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embeddedFontLst>
    <p:embeddedFont>
      <p:font typeface="Arial Black" panose="020B0A04020102020204" pitchFamily="34" charset="0"/>
      <p:bold r:id="rId14"/>
    </p:embeddedFont>
    <p:embeddedFont>
      <p:font typeface="DM Sans Light" panose="020B0604020202020204" charset="0"/>
      <p:regular r:id="rId15"/>
    </p:embeddedFont>
    <p:embeddedFont>
      <p:font typeface="DM Sans SemiBold" panose="020B0604020202020204" charset="0"/>
      <p:regular r:id="rId16"/>
    </p:embeddedFont>
    <p:embeddedFont>
      <p:font typeface="Inter Bold" panose="020B0604020202020204" charset="0"/>
      <p:regular r:id="rId17"/>
    </p:embeddedFont>
    <p:embeddedFont>
      <p:font typeface="Inter Medium" panose="020B0604020202020204" charset="0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1020" y="1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7339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DEDF2D-C5B1-851A-354B-3C636D898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31F1F8-C3B0-8352-9A40-1D38C154E8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70A0DE-9318-F7B7-2B7D-08F5131BF2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E44615-E741-C193-5453-1C1F1B5EDC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7262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5842" y="380181"/>
            <a:ext cx="3287241" cy="4383063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96119" y="873249"/>
            <a:ext cx="1434331" cy="266402"/>
          </a:xfrm>
          <a:prstGeom prst="roundRect">
            <a:avLst>
              <a:gd name="adj" fmla="val 6386"/>
            </a:avLst>
          </a:prstGeom>
          <a:solidFill>
            <a:srgbClr val="D4F7EC"/>
          </a:solidFill>
          <a:ln/>
        </p:spPr>
      </p:sp>
      <p:sp>
        <p:nvSpPr>
          <p:cNvPr id="5" name="Text 2"/>
          <p:cNvSpPr/>
          <p:nvPr/>
        </p:nvSpPr>
        <p:spPr>
          <a:xfrm>
            <a:off x="581174" y="915739"/>
            <a:ext cx="1721421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MODEL ANTREAN FIFO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2001292" y="873249"/>
            <a:ext cx="1031528" cy="266402"/>
          </a:xfrm>
          <a:prstGeom prst="roundRect">
            <a:avLst>
              <a:gd name="adj" fmla="val 6386"/>
            </a:avLst>
          </a:prstGeom>
          <a:noFill/>
          <a:ln/>
          <a:effectLst>
            <a:outerShdw blurRad="101600" dist="50800" dir="16200000" algn="bl" rotWithShape="0">
              <a:srgbClr val="1C9770">
                <a:alpha val="10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2086347" y="915739"/>
            <a:ext cx="1318617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1C977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SPBU 54.83203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496119" y="1196355"/>
            <a:ext cx="4722763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Penerapan Sistem Antrean pada SPBU 54.83203 Jalan Majapahit Menggunakan Metode FIFO</a:t>
            </a:r>
            <a:endParaRPr lang="en-US" sz="2750" dirty="0"/>
          </a:p>
        </p:txBody>
      </p:sp>
      <p:sp>
        <p:nvSpPr>
          <p:cNvPr id="9" name="Text 6"/>
          <p:cNvSpPr/>
          <p:nvPr/>
        </p:nvSpPr>
        <p:spPr>
          <a:xfrm>
            <a:off x="496119" y="3180904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Analisis kinerja sistem pelayanan untuk kendaraan roda dua pada dua nozzle Pertalite menggunakan model antrian M/G/2.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96119" y="3829422"/>
            <a:ext cx="4722763" cy="19050"/>
          </a:xfrm>
          <a:prstGeom prst="roundRect">
            <a:avLst>
              <a:gd name="adj" fmla="val 60000"/>
            </a:avLst>
          </a:prstGeom>
          <a:solidFill>
            <a:srgbClr val="464646">
              <a:alpha val="50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496119" y="4043363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Aliatul Jannah</a:t>
            </a: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· </a:t>
            </a:r>
            <a:r>
              <a:rPr lang="en-US" sz="11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Aziyyati Nirmala Putri</a:t>
            </a: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· </a:t>
            </a:r>
            <a:r>
              <a:rPr lang="en-US" sz="11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Siti Lizatul Ibadah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908075"/>
            <a:ext cx="460474" cy="266402"/>
          </a:xfrm>
          <a:prstGeom prst="roundRect">
            <a:avLst>
              <a:gd name="adj" fmla="val 6386"/>
            </a:avLst>
          </a:prstGeom>
          <a:solidFill>
            <a:srgbClr val="D4F7EC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950565"/>
            <a:ext cx="747564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BAB I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7435" y="950565"/>
            <a:ext cx="1455986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1C977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LATAR BELAKANG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96119" y="1231181"/>
            <a:ext cx="6471642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Mengapa Analisis Antrean SPBU Diperlukan?</a:t>
            </a:r>
            <a:endParaRPr lang="en-US" sz="2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798141"/>
            <a:ext cx="1931566" cy="24372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3127" y="1958950"/>
            <a:ext cx="1533748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Fenomena Antrean Umum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33127" y="2486918"/>
            <a:ext cx="1533748" cy="1360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Antrean sering terjadi pada fasilitas pelayanan publik, termasuk SPBU, terutama saat jam sibuk.</a:t>
            </a:r>
            <a:endParaRPr lang="en-US" sz="11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69443" y="1798141"/>
            <a:ext cx="1931640" cy="24372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806452" y="1958950"/>
            <a:ext cx="1533823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Dampak Waktu Tunggu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2806452" y="2486918"/>
            <a:ext cx="1533823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Tingginya jumlah pelanggan pada periode tertentu menyebabkan waktu tunggu yang lama dan menurunkan kepuasan.</a:t>
            </a:r>
            <a:endParaRPr lang="en-US" sz="11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42842" y="1798141"/>
            <a:ext cx="1931640" cy="243728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879851" y="1958950"/>
            <a:ext cx="153382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Konfigurasi SPBU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4879851" y="2265462"/>
            <a:ext cx="1533823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SPBU 54.83203 Jalan Majapahit memiliki dua nozzle pengisian Pertalite khusus untuk kendaraan roda dua.</a:t>
            </a:r>
            <a:endParaRPr lang="en-US" sz="11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16241" y="1798141"/>
            <a:ext cx="1931640" cy="243728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953250" y="1958950"/>
            <a:ext cx="1533823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Kebutuhan Evaluasi</a:t>
            </a:r>
            <a:endParaRPr lang="en-US" sz="1350" dirty="0"/>
          </a:p>
        </p:txBody>
      </p:sp>
      <p:sp>
        <p:nvSpPr>
          <p:cNvPr id="17" name="Text 11"/>
          <p:cNvSpPr/>
          <p:nvPr/>
        </p:nvSpPr>
        <p:spPr>
          <a:xfrm>
            <a:off x="6953250" y="2486918"/>
            <a:ext cx="1533823" cy="1360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Diperlukan analisis sistem antrean untuk mengevaluasi kinerja pelayanan dan mengidentifikasi peluang optimalisasi.</a:t>
            </a:r>
            <a:endParaRPr lang="en-US" sz="11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9F7B6E2-DDDB-5C8A-75BE-FD8B62857C78}"/>
              </a:ext>
            </a:extLst>
          </p:cNvPr>
          <p:cNvSpPr/>
          <p:nvPr/>
        </p:nvSpPr>
        <p:spPr>
          <a:xfrm>
            <a:off x="7703820" y="4831080"/>
            <a:ext cx="2042160" cy="3962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4" name="Text 1"/>
          <p:cNvSpPr/>
          <p:nvPr/>
        </p:nvSpPr>
        <p:spPr>
          <a:xfrm>
            <a:off x="496119" y="484063"/>
            <a:ext cx="2760911" cy="287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Tujuan Penelitian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96119" y="912391"/>
            <a:ext cx="5179963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Empat fokus utama untuk mengevaluasi sistem antrean SPBU secara menyeluruh.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96119" y="1184597"/>
            <a:ext cx="230312" cy="1439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01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96119" y="1365945"/>
            <a:ext cx="4722763" cy="14288"/>
          </a:xfrm>
          <a:prstGeom prst="rect">
            <a:avLst/>
          </a:prstGeom>
          <a:solidFill>
            <a:srgbClr val="1C9770"/>
          </a:solidFill>
          <a:ln/>
        </p:spPr>
      </p:sp>
      <p:sp>
        <p:nvSpPr>
          <p:cNvPr id="8" name="Text 5"/>
          <p:cNvSpPr/>
          <p:nvPr/>
        </p:nvSpPr>
        <p:spPr>
          <a:xfrm>
            <a:off x="496119" y="1452042"/>
            <a:ext cx="14397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Pola Kedatangan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96119" y="1688083"/>
            <a:ext cx="4722763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Menganalisis sebaran waktu antar kedatangan pelanggan pada setiap nozzle.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96119" y="2034927"/>
            <a:ext cx="230312" cy="1439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02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96119" y="2216274"/>
            <a:ext cx="4722763" cy="14288"/>
          </a:xfrm>
          <a:prstGeom prst="rect">
            <a:avLst/>
          </a:prstGeom>
          <a:solidFill>
            <a:srgbClr val="1C9770"/>
          </a:solidFill>
          <a:ln/>
        </p:spPr>
      </p:sp>
      <p:sp>
        <p:nvSpPr>
          <p:cNvPr id="12" name="Text 9"/>
          <p:cNvSpPr/>
          <p:nvPr/>
        </p:nvSpPr>
        <p:spPr>
          <a:xfrm>
            <a:off x="496119" y="2302371"/>
            <a:ext cx="14397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Pola Pelayanan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96119" y="2538413"/>
            <a:ext cx="4722763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Menganalisis sebaran waktu pelayanan pengisian bahan bakar.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96119" y="2885256"/>
            <a:ext cx="230312" cy="1439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03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96119" y="3066604"/>
            <a:ext cx="4722763" cy="14288"/>
          </a:xfrm>
          <a:prstGeom prst="rect">
            <a:avLst/>
          </a:prstGeom>
          <a:solidFill>
            <a:srgbClr val="1C9770"/>
          </a:solidFill>
          <a:ln/>
        </p:spPr>
      </p:sp>
      <p:sp>
        <p:nvSpPr>
          <p:cNvPr id="16" name="Text 13"/>
          <p:cNvSpPr/>
          <p:nvPr/>
        </p:nvSpPr>
        <p:spPr>
          <a:xfrm>
            <a:off x="496119" y="3152701"/>
            <a:ext cx="14397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Model Antrean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96119" y="3388742"/>
            <a:ext cx="4722763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Menentukan model antrean yang sesuai berdasarkan distribusi kedatangan dan pelayanan.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96119" y="3902571"/>
            <a:ext cx="230312" cy="1439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04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96119" y="4083918"/>
            <a:ext cx="4722763" cy="14288"/>
          </a:xfrm>
          <a:prstGeom prst="rect">
            <a:avLst/>
          </a:prstGeom>
          <a:solidFill>
            <a:srgbClr val="1C9770"/>
          </a:solidFill>
          <a:ln/>
        </p:spPr>
      </p:sp>
      <p:sp>
        <p:nvSpPr>
          <p:cNvPr id="20" name="Text 17"/>
          <p:cNvSpPr/>
          <p:nvPr/>
        </p:nvSpPr>
        <p:spPr>
          <a:xfrm>
            <a:off x="496119" y="4170015"/>
            <a:ext cx="14397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Kinerja Sistem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96119" y="4406057"/>
            <a:ext cx="4722763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Mengevaluasi performa sistem antrean melalui ukuran kinerja seperti utilisasi server.</a:t>
            </a:r>
            <a:endParaRPr lang="en-US" sz="900" dirty="0"/>
          </a:p>
        </p:txBody>
      </p:sp>
      <p:pic>
        <p:nvPicPr>
          <p:cNvPr id="22" name="Image 0" descr="preencoded.png">
            <a:extLst>
              <a:ext uri="{FF2B5EF4-FFF2-40B4-BE49-F238E27FC236}">
                <a16:creationId xmlns:a16="http://schemas.microsoft.com/office/drawing/2014/main" id="{7AD42AD0-5A1C-139A-57F1-D319F184E5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6759" y="484063"/>
            <a:ext cx="3287241" cy="43830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280964"/>
            <a:ext cx="4218831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Data dan Metode Penelitian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96119" y="1989683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Data &amp; Variabel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2352898"/>
            <a:ext cx="3902943" cy="1282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primer:</a:t>
            </a: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hasil observasi langsung di lapangan.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Objek:</a:t>
            </a: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dua nozzle Pertalite untuk kendaraan roda dua.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Kondisi:</a:t>
            </a: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jam sibuk dan jam non-sibuk.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Variabel:</a:t>
            </a: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waktu kedatangan, waktu mulai pelayanan, waktu selesai pelayanan.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749701" y="1989683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Metode Analisis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749701" y="2352898"/>
            <a:ext cx="3902943" cy="14600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Statistika deskriptif</a:t>
            </a: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untuk merangkum karakteristik data.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Uji Anderson-Darling</a:t>
            </a: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untuk menguji kesesuaian distribusi.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Analisis sistem antrean FIFO</a:t>
            </a: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untuk memodelkan kinerja pelayanan.</a:t>
            </a:r>
            <a:endParaRPr lang="en-US" sz="11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DCF3D0-595F-37D9-B03E-B3ACB569EF24}"/>
              </a:ext>
            </a:extLst>
          </p:cNvPr>
          <p:cNvSpPr/>
          <p:nvPr/>
        </p:nvSpPr>
        <p:spPr>
          <a:xfrm>
            <a:off x="7703820" y="4831080"/>
            <a:ext cx="2042160" cy="3962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CC57ACF7-3D03-5298-A6E2-684B44F06C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1172" y="2633574"/>
            <a:ext cx="2640948" cy="352132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627013"/>
            <a:ext cx="978991" cy="239018"/>
          </a:xfrm>
          <a:prstGeom prst="roundRect">
            <a:avLst>
              <a:gd name="adj" fmla="val 6561"/>
            </a:avLst>
          </a:prstGeom>
          <a:solidFill>
            <a:srgbClr val="D4F7EC"/>
          </a:solidFill>
          <a:ln/>
        </p:spPr>
      </p:sp>
      <p:sp>
        <p:nvSpPr>
          <p:cNvPr id="3" name="Text 1"/>
          <p:cNvSpPr/>
          <p:nvPr/>
        </p:nvSpPr>
        <p:spPr>
          <a:xfrm>
            <a:off x="574477" y="666155"/>
            <a:ext cx="1279475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KARAKTERISTIK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96119" y="914177"/>
            <a:ext cx="3782839" cy="326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Gambaran Sistem Antrean</a:t>
            </a:r>
            <a:endParaRPr lang="en-US" sz="2050" dirty="0"/>
          </a:p>
        </p:txBody>
      </p:sp>
      <p:sp>
        <p:nvSpPr>
          <p:cNvPr id="5" name="Text 3"/>
          <p:cNvSpPr/>
          <p:nvPr/>
        </p:nvSpPr>
        <p:spPr>
          <a:xfrm>
            <a:off x="496119" y="1361405"/>
            <a:ext cx="3916487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Sistem pelayanan SPBU 54.83203 dapat dikarakterisasi sebagai berikut.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96119" y="2057846"/>
            <a:ext cx="1882973" cy="408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Multiple Channel Single Phase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96119" y="2586558"/>
            <a:ext cx="1882973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Dua saluran pelayanan paralel dengan satu tahap pengisian.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1831" y="1898600"/>
            <a:ext cx="1911548" cy="28575"/>
          </a:xfrm>
          <a:prstGeom prst="rect">
            <a:avLst/>
          </a:prstGeom>
          <a:solidFill>
            <a:srgbClr val="1C9770"/>
          </a:solidFill>
          <a:ln/>
        </p:spPr>
      </p:sp>
      <p:sp>
        <p:nvSpPr>
          <p:cNvPr id="9" name="Text 7"/>
          <p:cNvSpPr/>
          <p:nvPr/>
        </p:nvSpPr>
        <p:spPr>
          <a:xfrm>
            <a:off x="2529632" y="2057846"/>
            <a:ext cx="1668363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Dua Server (2 Nozzle)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529632" y="2382441"/>
            <a:ext cx="1882973" cy="602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Setiap nozzle berfungsi sebagai server independen dalam sistem.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15344" y="1898600"/>
            <a:ext cx="1911548" cy="28575"/>
          </a:xfrm>
          <a:prstGeom prst="rect">
            <a:avLst/>
          </a:prstGeom>
          <a:solidFill>
            <a:srgbClr val="1C9770"/>
          </a:solidFill>
          <a:ln/>
        </p:spPr>
      </p:sp>
      <p:sp>
        <p:nvSpPr>
          <p:cNvPr id="12" name="Text 10"/>
          <p:cNvSpPr/>
          <p:nvPr/>
        </p:nvSpPr>
        <p:spPr>
          <a:xfrm>
            <a:off x="496119" y="3388444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Disiplin FIFO/FCFS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96119" y="3713038"/>
            <a:ext cx="1882973" cy="803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Pelanggan dilayani berdasarkan urutan kedatangan, first-come first-served.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1831" y="3229198"/>
            <a:ext cx="1911548" cy="28575"/>
          </a:xfrm>
          <a:prstGeom prst="rect">
            <a:avLst/>
          </a:prstGeom>
          <a:solidFill>
            <a:srgbClr val="1C9770"/>
          </a:solidFill>
          <a:ln/>
        </p:spPr>
      </p:sp>
      <p:sp>
        <p:nvSpPr>
          <p:cNvPr id="15" name="Text 13"/>
          <p:cNvSpPr/>
          <p:nvPr/>
        </p:nvSpPr>
        <p:spPr>
          <a:xfrm>
            <a:off x="2529632" y="3388444"/>
            <a:ext cx="1802978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Kapasitas Tak Terbatas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529632" y="3713038"/>
            <a:ext cx="1882973" cy="602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Sistem tidak membatasi jumlah pelanggan dalam antrean.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515344" y="3229198"/>
            <a:ext cx="1911548" cy="28575"/>
          </a:xfrm>
          <a:prstGeom prst="rect">
            <a:avLst/>
          </a:prstGeom>
          <a:solidFill>
            <a:srgbClr val="1C9770"/>
          </a:solidFill>
          <a:ln/>
        </p:spPr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6157" y="613470"/>
            <a:ext cx="3916487" cy="3916487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61CB4BC3-AF07-B7C0-B623-5CAAFCE22DB3}"/>
              </a:ext>
            </a:extLst>
          </p:cNvPr>
          <p:cNvSpPr/>
          <p:nvPr/>
        </p:nvSpPr>
        <p:spPr>
          <a:xfrm>
            <a:off x="7703820" y="4831080"/>
            <a:ext cx="2042160" cy="3962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0">
            <a:extLst>
              <a:ext uri="{FF2B5EF4-FFF2-40B4-BE49-F238E27FC236}">
                <a16:creationId xmlns:a16="http://schemas.microsoft.com/office/drawing/2014/main" id="{EFA5E1E9-87E9-55C4-808A-160DBF16E1E0}"/>
              </a:ext>
            </a:extLst>
          </p:cNvPr>
          <p:cNvSpPr/>
          <p:nvPr/>
        </p:nvSpPr>
        <p:spPr>
          <a:xfrm>
            <a:off x="496119" y="534739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Statistik Deskriptif</a:t>
            </a:r>
            <a:endParaRPr lang="en-US" sz="1350" dirty="0"/>
          </a:p>
        </p:txBody>
      </p:sp>
      <p:sp>
        <p:nvSpPr>
          <p:cNvPr id="27" name="Text 1">
            <a:extLst>
              <a:ext uri="{FF2B5EF4-FFF2-40B4-BE49-F238E27FC236}">
                <a16:creationId xmlns:a16="http://schemas.microsoft.com/office/drawing/2014/main" id="{416693BA-AF72-C04A-53C4-3948D42D42F0}"/>
              </a:ext>
            </a:extLst>
          </p:cNvPr>
          <p:cNvSpPr/>
          <p:nvPr/>
        </p:nvSpPr>
        <p:spPr>
          <a:xfrm>
            <a:off x="496119" y="812899"/>
            <a:ext cx="6471047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Waktu Antar Kedatangan Rata-rata</a:t>
            </a:r>
            <a:endParaRPr lang="en-US" sz="2750" dirty="0"/>
          </a:p>
        </p:txBody>
      </p:sp>
      <p:sp>
        <p:nvSpPr>
          <p:cNvPr id="28" name="Shape 2">
            <a:extLst>
              <a:ext uri="{FF2B5EF4-FFF2-40B4-BE49-F238E27FC236}">
                <a16:creationId xmlns:a16="http://schemas.microsoft.com/office/drawing/2014/main" id="{7242281F-19F5-7893-8DC6-E43A222B7FE5}"/>
              </a:ext>
            </a:extLst>
          </p:cNvPr>
          <p:cNvSpPr/>
          <p:nvPr/>
        </p:nvSpPr>
        <p:spPr>
          <a:xfrm>
            <a:off x="496119" y="1468487"/>
            <a:ext cx="8151763" cy="2041773"/>
          </a:xfrm>
          <a:prstGeom prst="roundRect">
            <a:avLst>
              <a:gd name="adj" fmla="val 1042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29" name="Shape 3">
            <a:extLst>
              <a:ext uri="{FF2B5EF4-FFF2-40B4-BE49-F238E27FC236}">
                <a16:creationId xmlns:a16="http://schemas.microsoft.com/office/drawing/2014/main" id="{0F3F12E3-2DF5-CDC0-C0F9-815548080FC8}"/>
              </a:ext>
            </a:extLst>
          </p:cNvPr>
          <p:cNvSpPr/>
          <p:nvPr/>
        </p:nvSpPr>
        <p:spPr>
          <a:xfrm>
            <a:off x="500881" y="1473250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0" name="Text 4">
            <a:extLst>
              <a:ext uri="{FF2B5EF4-FFF2-40B4-BE49-F238E27FC236}">
                <a16:creationId xmlns:a16="http://schemas.microsoft.com/office/drawing/2014/main" id="{D9A11E42-D3D1-EAA1-02DE-986C4268EC1B}"/>
              </a:ext>
            </a:extLst>
          </p:cNvPr>
          <p:cNvSpPr/>
          <p:nvPr/>
        </p:nvSpPr>
        <p:spPr>
          <a:xfrm>
            <a:off x="642789" y="1563067"/>
            <a:ext cx="179970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Kondisi</a:t>
            </a:r>
            <a:endParaRPr lang="en-US" sz="1100" dirty="0"/>
          </a:p>
        </p:txBody>
      </p:sp>
      <p:sp>
        <p:nvSpPr>
          <p:cNvPr id="31" name="Text 5">
            <a:extLst>
              <a:ext uri="{FF2B5EF4-FFF2-40B4-BE49-F238E27FC236}">
                <a16:creationId xmlns:a16="http://schemas.microsoft.com/office/drawing/2014/main" id="{BB5E686B-2D54-1E7C-C70C-80383B779242}"/>
              </a:ext>
            </a:extLst>
          </p:cNvPr>
          <p:cNvSpPr/>
          <p:nvPr/>
        </p:nvSpPr>
        <p:spPr>
          <a:xfrm>
            <a:off x="2273573" y="1563067"/>
            <a:ext cx="261156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Nozzle</a:t>
            </a:r>
            <a:endParaRPr lang="en-US" sz="1100" dirty="0"/>
          </a:p>
        </p:txBody>
      </p:sp>
      <p:sp>
        <p:nvSpPr>
          <p:cNvPr id="32" name="Text 6">
            <a:extLst>
              <a:ext uri="{FF2B5EF4-FFF2-40B4-BE49-F238E27FC236}">
                <a16:creationId xmlns:a16="http://schemas.microsoft.com/office/drawing/2014/main" id="{2FD29054-8418-0BF9-74C7-BC5305859737}"/>
              </a:ext>
            </a:extLst>
          </p:cNvPr>
          <p:cNvSpPr/>
          <p:nvPr/>
        </p:nvSpPr>
        <p:spPr>
          <a:xfrm>
            <a:off x="4716214" y="1563067"/>
            <a:ext cx="220444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Rata-rata (detik)</a:t>
            </a:r>
            <a:endParaRPr lang="en-US" sz="1100" dirty="0"/>
          </a:p>
        </p:txBody>
      </p:sp>
      <p:sp>
        <p:nvSpPr>
          <p:cNvPr id="33" name="Text 7">
            <a:extLst>
              <a:ext uri="{FF2B5EF4-FFF2-40B4-BE49-F238E27FC236}">
                <a16:creationId xmlns:a16="http://schemas.microsoft.com/office/drawing/2014/main" id="{83D2DD5E-4161-C7CD-07A0-D44DDF3A0041}"/>
              </a:ext>
            </a:extLst>
          </p:cNvPr>
          <p:cNvSpPr/>
          <p:nvPr/>
        </p:nvSpPr>
        <p:spPr>
          <a:xfrm>
            <a:off x="6751737" y="1563067"/>
            <a:ext cx="22068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Pengamatan</a:t>
            </a:r>
            <a:endParaRPr lang="en-US" sz="1100" dirty="0"/>
          </a:p>
        </p:txBody>
      </p:sp>
      <p:sp>
        <p:nvSpPr>
          <p:cNvPr id="34" name="Shape 8">
            <a:extLst>
              <a:ext uri="{FF2B5EF4-FFF2-40B4-BE49-F238E27FC236}">
                <a16:creationId xmlns:a16="http://schemas.microsoft.com/office/drawing/2014/main" id="{798C9EDE-DC0B-2BD7-6A82-1A0F7EA9D1E7}"/>
              </a:ext>
            </a:extLst>
          </p:cNvPr>
          <p:cNvSpPr/>
          <p:nvPr/>
        </p:nvSpPr>
        <p:spPr>
          <a:xfrm>
            <a:off x="500881" y="1879699"/>
            <a:ext cx="8142238" cy="4064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5" name="Text 9">
            <a:extLst>
              <a:ext uri="{FF2B5EF4-FFF2-40B4-BE49-F238E27FC236}">
                <a16:creationId xmlns:a16="http://schemas.microsoft.com/office/drawing/2014/main" id="{0E2A6B53-8895-8571-5EDA-35D9F0102F0A}"/>
              </a:ext>
            </a:extLst>
          </p:cNvPr>
          <p:cNvSpPr/>
          <p:nvPr/>
        </p:nvSpPr>
        <p:spPr>
          <a:xfrm>
            <a:off x="642789" y="1969517"/>
            <a:ext cx="179970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Antrean Pendek</a:t>
            </a:r>
            <a:endParaRPr lang="en-US" sz="1100" dirty="0"/>
          </a:p>
        </p:txBody>
      </p:sp>
      <p:sp>
        <p:nvSpPr>
          <p:cNvPr id="36" name="Text 10">
            <a:extLst>
              <a:ext uri="{FF2B5EF4-FFF2-40B4-BE49-F238E27FC236}">
                <a16:creationId xmlns:a16="http://schemas.microsoft.com/office/drawing/2014/main" id="{43224D12-3AA2-780B-D6BC-83A0AE15CFE9}"/>
              </a:ext>
            </a:extLst>
          </p:cNvPr>
          <p:cNvSpPr/>
          <p:nvPr/>
        </p:nvSpPr>
        <p:spPr>
          <a:xfrm>
            <a:off x="2273573" y="1969517"/>
            <a:ext cx="261156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Nozzle 1</a:t>
            </a:r>
            <a:endParaRPr lang="en-US" sz="1100" dirty="0"/>
          </a:p>
        </p:txBody>
      </p:sp>
      <p:sp>
        <p:nvSpPr>
          <p:cNvPr id="37" name="Text 11">
            <a:extLst>
              <a:ext uri="{FF2B5EF4-FFF2-40B4-BE49-F238E27FC236}">
                <a16:creationId xmlns:a16="http://schemas.microsoft.com/office/drawing/2014/main" id="{51057D27-22CC-E349-178D-DA84AD534A48}"/>
              </a:ext>
            </a:extLst>
          </p:cNvPr>
          <p:cNvSpPr/>
          <p:nvPr/>
        </p:nvSpPr>
        <p:spPr>
          <a:xfrm>
            <a:off x="4716214" y="1969517"/>
            <a:ext cx="220444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1C977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114.90</a:t>
            </a:r>
            <a:endParaRPr lang="en-US" sz="1100" dirty="0"/>
          </a:p>
        </p:txBody>
      </p:sp>
      <p:sp>
        <p:nvSpPr>
          <p:cNvPr id="38" name="Text 12">
            <a:extLst>
              <a:ext uri="{FF2B5EF4-FFF2-40B4-BE49-F238E27FC236}">
                <a16:creationId xmlns:a16="http://schemas.microsoft.com/office/drawing/2014/main" id="{E133A0F7-AC6F-1AC1-2332-0EA32FBA1041}"/>
              </a:ext>
            </a:extLst>
          </p:cNvPr>
          <p:cNvSpPr/>
          <p:nvPr/>
        </p:nvSpPr>
        <p:spPr>
          <a:xfrm>
            <a:off x="6751737" y="1969517"/>
            <a:ext cx="22068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Kedatangan lebih jarang</a:t>
            </a:r>
            <a:endParaRPr lang="en-US" sz="1100" dirty="0"/>
          </a:p>
        </p:txBody>
      </p:sp>
      <p:sp>
        <p:nvSpPr>
          <p:cNvPr id="39" name="Shape 13">
            <a:extLst>
              <a:ext uri="{FF2B5EF4-FFF2-40B4-BE49-F238E27FC236}">
                <a16:creationId xmlns:a16="http://schemas.microsoft.com/office/drawing/2014/main" id="{69B27ED3-E981-9BE8-9EC2-3EA2173F8244}"/>
              </a:ext>
            </a:extLst>
          </p:cNvPr>
          <p:cNvSpPr/>
          <p:nvPr/>
        </p:nvSpPr>
        <p:spPr>
          <a:xfrm>
            <a:off x="500881" y="2286149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40" name="Text 14">
            <a:extLst>
              <a:ext uri="{FF2B5EF4-FFF2-40B4-BE49-F238E27FC236}">
                <a16:creationId xmlns:a16="http://schemas.microsoft.com/office/drawing/2014/main" id="{E0A7D29B-7EB7-6689-3991-CB552C383AC1}"/>
              </a:ext>
            </a:extLst>
          </p:cNvPr>
          <p:cNvSpPr/>
          <p:nvPr/>
        </p:nvSpPr>
        <p:spPr>
          <a:xfrm>
            <a:off x="642789" y="2375967"/>
            <a:ext cx="179970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Antrean Pendek</a:t>
            </a:r>
            <a:endParaRPr lang="en-US" sz="1100" dirty="0"/>
          </a:p>
        </p:txBody>
      </p:sp>
      <p:sp>
        <p:nvSpPr>
          <p:cNvPr id="41" name="Text 15">
            <a:extLst>
              <a:ext uri="{FF2B5EF4-FFF2-40B4-BE49-F238E27FC236}">
                <a16:creationId xmlns:a16="http://schemas.microsoft.com/office/drawing/2014/main" id="{26947854-19E3-FC00-06DD-DF5678800AAF}"/>
              </a:ext>
            </a:extLst>
          </p:cNvPr>
          <p:cNvSpPr/>
          <p:nvPr/>
        </p:nvSpPr>
        <p:spPr>
          <a:xfrm>
            <a:off x="2273573" y="2375967"/>
            <a:ext cx="261156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Nozzle 2</a:t>
            </a:r>
            <a:endParaRPr lang="en-US" sz="1100" dirty="0"/>
          </a:p>
        </p:txBody>
      </p:sp>
      <p:sp>
        <p:nvSpPr>
          <p:cNvPr id="42" name="Text 16">
            <a:extLst>
              <a:ext uri="{FF2B5EF4-FFF2-40B4-BE49-F238E27FC236}">
                <a16:creationId xmlns:a16="http://schemas.microsoft.com/office/drawing/2014/main" id="{B6327357-026C-865F-EE63-17B317A9AC39}"/>
              </a:ext>
            </a:extLst>
          </p:cNvPr>
          <p:cNvSpPr/>
          <p:nvPr/>
        </p:nvSpPr>
        <p:spPr>
          <a:xfrm>
            <a:off x="4716214" y="2375967"/>
            <a:ext cx="220444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1C977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110.20</a:t>
            </a:r>
            <a:endParaRPr lang="en-US" sz="1100" dirty="0"/>
          </a:p>
        </p:txBody>
      </p:sp>
      <p:sp>
        <p:nvSpPr>
          <p:cNvPr id="43" name="Text 17">
            <a:extLst>
              <a:ext uri="{FF2B5EF4-FFF2-40B4-BE49-F238E27FC236}">
                <a16:creationId xmlns:a16="http://schemas.microsoft.com/office/drawing/2014/main" id="{2CC35497-07BA-D75C-2BD2-37495ED290B1}"/>
              </a:ext>
            </a:extLst>
          </p:cNvPr>
          <p:cNvSpPr/>
          <p:nvPr/>
        </p:nvSpPr>
        <p:spPr>
          <a:xfrm>
            <a:off x="6751737" y="2375967"/>
            <a:ext cx="22068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Kedatangan lebih jarang</a:t>
            </a:r>
            <a:endParaRPr lang="en-US" sz="1100" dirty="0"/>
          </a:p>
        </p:txBody>
      </p:sp>
      <p:sp>
        <p:nvSpPr>
          <p:cNvPr id="44" name="Shape 18">
            <a:extLst>
              <a:ext uri="{FF2B5EF4-FFF2-40B4-BE49-F238E27FC236}">
                <a16:creationId xmlns:a16="http://schemas.microsoft.com/office/drawing/2014/main" id="{4CD20F99-6221-0BCB-8B11-E6A08EE7B467}"/>
              </a:ext>
            </a:extLst>
          </p:cNvPr>
          <p:cNvSpPr/>
          <p:nvPr/>
        </p:nvSpPr>
        <p:spPr>
          <a:xfrm>
            <a:off x="500881" y="2692598"/>
            <a:ext cx="8142238" cy="4064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45" name="Text 19">
            <a:extLst>
              <a:ext uri="{FF2B5EF4-FFF2-40B4-BE49-F238E27FC236}">
                <a16:creationId xmlns:a16="http://schemas.microsoft.com/office/drawing/2014/main" id="{7755D468-387B-8612-1B6C-9A5DD26AF6C9}"/>
              </a:ext>
            </a:extLst>
          </p:cNvPr>
          <p:cNvSpPr/>
          <p:nvPr/>
        </p:nvSpPr>
        <p:spPr>
          <a:xfrm>
            <a:off x="642789" y="2782416"/>
            <a:ext cx="179970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Antrean Panjang</a:t>
            </a:r>
            <a:endParaRPr lang="en-US" sz="1100" dirty="0"/>
          </a:p>
        </p:txBody>
      </p:sp>
      <p:sp>
        <p:nvSpPr>
          <p:cNvPr id="46" name="Text 20">
            <a:extLst>
              <a:ext uri="{FF2B5EF4-FFF2-40B4-BE49-F238E27FC236}">
                <a16:creationId xmlns:a16="http://schemas.microsoft.com/office/drawing/2014/main" id="{7D70404C-28D0-A45B-D6EB-E21A2465FE4B}"/>
              </a:ext>
            </a:extLst>
          </p:cNvPr>
          <p:cNvSpPr/>
          <p:nvPr/>
        </p:nvSpPr>
        <p:spPr>
          <a:xfrm>
            <a:off x="2273573" y="2782416"/>
            <a:ext cx="261156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Nozzle 1</a:t>
            </a:r>
            <a:endParaRPr lang="en-US" sz="1100" dirty="0"/>
          </a:p>
        </p:txBody>
      </p:sp>
      <p:sp>
        <p:nvSpPr>
          <p:cNvPr id="47" name="Text 21">
            <a:extLst>
              <a:ext uri="{FF2B5EF4-FFF2-40B4-BE49-F238E27FC236}">
                <a16:creationId xmlns:a16="http://schemas.microsoft.com/office/drawing/2014/main" id="{C5071FDC-B4C6-7A2B-1419-D5D7325D572C}"/>
              </a:ext>
            </a:extLst>
          </p:cNvPr>
          <p:cNvSpPr/>
          <p:nvPr/>
        </p:nvSpPr>
        <p:spPr>
          <a:xfrm>
            <a:off x="4716214" y="2782416"/>
            <a:ext cx="220444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1C977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65.85</a:t>
            </a:r>
            <a:endParaRPr lang="en-US" sz="1100" dirty="0"/>
          </a:p>
        </p:txBody>
      </p:sp>
      <p:sp>
        <p:nvSpPr>
          <p:cNvPr id="48" name="Text 22">
            <a:extLst>
              <a:ext uri="{FF2B5EF4-FFF2-40B4-BE49-F238E27FC236}">
                <a16:creationId xmlns:a16="http://schemas.microsoft.com/office/drawing/2014/main" id="{C663E80C-5A02-60BB-B65A-15BBEAFA6CD3}"/>
              </a:ext>
            </a:extLst>
          </p:cNvPr>
          <p:cNvSpPr/>
          <p:nvPr/>
        </p:nvSpPr>
        <p:spPr>
          <a:xfrm>
            <a:off x="6751737" y="2782416"/>
            <a:ext cx="22068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Kedatangan lebih sering</a:t>
            </a:r>
            <a:endParaRPr lang="en-US" sz="1100" dirty="0"/>
          </a:p>
        </p:txBody>
      </p:sp>
      <p:sp>
        <p:nvSpPr>
          <p:cNvPr id="49" name="Shape 23">
            <a:extLst>
              <a:ext uri="{FF2B5EF4-FFF2-40B4-BE49-F238E27FC236}">
                <a16:creationId xmlns:a16="http://schemas.microsoft.com/office/drawing/2014/main" id="{5A11DC5A-21D6-F9B4-60BC-108F4921F576}"/>
              </a:ext>
            </a:extLst>
          </p:cNvPr>
          <p:cNvSpPr/>
          <p:nvPr/>
        </p:nvSpPr>
        <p:spPr>
          <a:xfrm>
            <a:off x="500881" y="3099048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0" name="Text 24">
            <a:extLst>
              <a:ext uri="{FF2B5EF4-FFF2-40B4-BE49-F238E27FC236}">
                <a16:creationId xmlns:a16="http://schemas.microsoft.com/office/drawing/2014/main" id="{F5857A76-EA0B-6246-4884-9E06A6E5FD5A}"/>
              </a:ext>
            </a:extLst>
          </p:cNvPr>
          <p:cNvSpPr/>
          <p:nvPr/>
        </p:nvSpPr>
        <p:spPr>
          <a:xfrm>
            <a:off x="642789" y="3188866"/>
            <a:ext cx="179970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Antrean Panjang</a:t>
            </a:r>
            <a:endParaRPr lang="en-US" sz="1100" dirty="0"/>
          </a:p>
        </p:txBody>
      </p:sp>
      <p:sp>
        <p:nvSpPr>
          <p:cNvPr id="51" name="Text 25">
            <a:extLst>
              <a:ext uri="{FF2B5EF4-FFF2-40B4-BE49-F238E27FC236}">
                <a16:creationId xmlns:a16="http://schemas.microsoft.com/office/drawing/2014/main" id="{BF70A14A-9D61-9A2A-D756-795E81F6F81B}"/>
              </a:ext>
            </a:extLst>
          </p:cNvPr>
          <p:cNvSpPr/>
          <p:nvPr/>
        </p:nvSpPr>
        <p:spPr>
          <a:xfrm>
            <a:off x="2273573" y="3188866"/>
            <a:ext cx="261156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Nozzle 2</a:t>
            </a:r>
            <a:endParaRPr lang="en-US" sz="1100" dirty="0"/>
          </a:p>
        </p:txBody>
      </p:sp>
      <p:sp>
        <p:nvSpPr>
          <p:cNvPr id="52" name="Text 26">
            <a:extLst>
              <a:ext uri="{FF2B5EF4-FFF2-40B4-BE49-F238E27FC236}">
                <a16:creationId xmlns:a16="http://schemas.microsoft.com/office/drawing/2014/main" id="{78641982-2FD3-D731-82E3-DB3D5D694F43}"/>
              </a:ext>
            </a:extLst>
          </p:cNvPr>
          <p:cNvSpPr/>
          <p:nvPr/>
        </p:nvSpPr>
        <p:spPr>
          <a:xfrm>
            <a:off x="4716214" y="3188866"/>
            <a:ext cx="220444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1C977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69.88</a:t>
            </a:r>
            <a:endParaRPr lang="en-US" sz="1100" dirty="0"/>
          </a:p>
        </p:txBody>
      </p:sp>
      <p:sp>
        <p:nvSpPr>
          <p:cNvPr id="53" name="Text 27">
            <a:extLst>
              <a:ext uri="{FF2B5EF4-FFF2-40B4-BE49-F238E27FC236}">
                <a16:creationId xmlns:a16="http://schemas.microsoft.com/office/drawing/2014/main" id="{EF556BD7-2793-8AC1-4710-E6E61F7A1880}"/>
              </a:ext>
            </a:extLst>
          </p:cNvPr>
          <p:cNvSpPr/>
          <p:nvPr/>
        </p:nvSpPr>
        <p:spPr>
          <a:xfrm>
            <a:off x="6751737" y="3188866"/>
            <a:ext cx="22068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Kedatangan lebih sering</a:t>
            </a:r>
            <a:endParaRPr lang="en-US" sz="1100" dirty="0"/>
          </a:p>
        </p:txBody>
      </p:sp>
      <p:sp>
        <p:nvSpPr>
          <p:cNvPr id="54" name="Shape 28">
            <a:extLst>
              <a:ext uri="{FF2B5EF4-FFF2-40B4-BE49-F238E27FC236}">
                <a16:creationId xmlns:a16="http://schemas.microsoft.com/office/drawing/2014/main" id="{7572C124-047C-2E7D-F447-C2B253FC0B63}"/>
              </a:ext>
            </a:extLst>
          </p:cNvPr>
          <p:cNvSpPr/>
          <p:nvPr/>
        </p:nvSpPr>
        <p:spPr>
          <a:xfrm>
            <a:off x="496119" y="3669729"/>
            <a:ext cx="8151763" cy="779562"/>
          </a:xfrm>
          <a:prstGeom prst="roundRect">
            <a:avLst>
              <a:gd name="adj" fmla="val 2728"/>
            </a:avLst>
          </a:prstGeom>
          <a:solidFill>
            <a:srgbClr val="D4F7EC"/>
          </a:solidFill>
          <a:ln/>
        </p:spPr>
      </p:sp>
      <p:pic>
        <p:nvPicPr>
          <p:cNvPr id="55" name="Image 0" descr="preencoded.png">
            <a:extLst>
              <a:ext uri="{FF2B5EF4-FFF2-40B4-BE49-F238E27FC236}">
                <a16:creationId xmlns:a16="http://schemas.microsoft.com/office/drawing/2014/main" id="{948E788C-FF25-3F1D-7567-4A3FE1371A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877" y="3870499"/>
            <a:ext cx="177180" cy="141759"/>
          </a:xfrm>
          <a:prstGeom prst="rect">
            <a:avLst/>
          </a:prstGeom>
        </p:spPr>
      </p:pic>
      <p:sp>
        <p:nvSpPr>
          <p:cNvPr id="56" name="Text 29">
            <a:extLst>
              <a:ext uri="{FF2B5EF4-FFF2-40B4-BE49-F238E27FC236}">
                <a16:creationId xmlns:a16="http://schemas.microsoft.com/office/drawing/2014/main" id="{D5BDAB75-84F4-CCF7-645B-40EE4D1264EF}"/>
              </a:ext>
            </a:extLst>
          </p:cNvPr>
          <p:cNvSpPr/>
          <p:nvPr/>
        </p:nvSpPr>
        <p:spPr>
          <a:xfrm>
            <a:off x="956816" y="3832696"/>
            <a:ext cx="754930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Pada kondisi antrean panjang, waktu antar kedatangan turun secara signifikan—pelanggan datang hampir </a:t>
            </a:r>
            <a:r>
              <a:rPr lang="en-US" sz="1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1,7× lebih sering</a:t>
            </a:r>
            <a:r>
              <a:rPr lang="en-US" sz="11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, sehingga beban sistem meningkat.</a:t>
            </a:r>
            <a:endParaRPr lang="en-US" sz="1100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99BCAFA-0421-904E-6D9D-2CAA65A2118F}"/>
              </a:ext>
            </a:extLst>
          </p:cNvPr>
          <p:cNvSpPr/>
          <p:nvPr/>
        </p:nvSpPr>
        <p:spPr>
          <a:xfrm>
            <a:off x="7703820" y="4831080"/>
            <a:ext cx="2042160" cy="3962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74390"/>
            <a:ext cx="1006227" cy="266402"/>
          </a:xfrm>
          <a:prstGeom prst="roundRect">
            <a:avLst>
              <a:gd name="adj" fmla="val 6386"/>
            </a:avLst>
          </a:prstGeom>
          <a:solidFill>
            <a:srgbClr val="D4F7EC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516880"/>
            <a:ext cx="1293316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UJI DISTRIBUSI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573188" y="516880"/>
            <a:ext cx="1641946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1C977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ANDERSON-DARLING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96119" y="797496"/>
            <a:ext cx="5109418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Pola Kedatangan &amp; Pola Pelayanan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96119" y="1492002"/>
            <a:ext cx="3478039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Uji Anderson-Darling dilakukan untuk memverifikasi distribusi kedatangan dan pelayanan.</a:t>
            </a:r>
            <a:endParaRPr lang="en-US" sz="11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7069" y="2312863"/>
            <a:ext cx="1669479" cy="22158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75977" y="2331913"/>
            <a:ext cx="147057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C9770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Pola Kedatangan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75977" y="2695129"/>
            <a:ext cx="1470571" cy="1360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Mengikuti distribusi </a:t>
            </a:r>
            <a:r>
              <a:rPr lang="en-US" sz="11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Eksponensial (M)</a:t>
            </a: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dengan p-value &gt; 0,05. Kedatangan bersifat acak (Poisson process).</a:t>
            </a:r>
            <a:endParaRPr lang="en-US" sz="11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04678" y="2312863"/>
            <a:ext cx="1669479" cy="221582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503587" y="2331913"/>
            <a:ext cx="147057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C9770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Pola Pelayanan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2503587" y="2695129"/>
            <a:ext cx="1470571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Tidak mengikuti distribusi eksponensial (p-value &lt; 0,05), sehingga dikategorikan sebagai distribusi </a:t>
            </a:r>
            <a:r>
              <a:rPr lang="en-US" sz="11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Umum (G)</a:t>
            </a: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.</a:t>
            </a:r>
            <a:endParaRPr lang="en-US" sz="11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4796" y="1523926"/>
            <a:ext cx="4327773" cy="2970163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830F83CB-7FF7-D765-F727-5E5708943246}"/>
              </a:ext>
            </a:extLst>
          </p:cNvPr>
          <p:cNvSpPr/>
          <p:nvPr/>
        </p:nvSpPr>
        <p:spPr>
          <a:xfrm>
            <a:off x="7703820" y="4831080"/>
            <a:ext cx="2042160" cy="3962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5842" y="380181"/>
            <a:ext cx="3287241" cy="4383063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96119" y="474390"/>
            <a:ext cx="1106091" cy="266402"/>
          </a:xfrm>
          <a:prstGeom prst="roundRect">
            <a:avLst>
              <a:gd name="adj" fmla="val 6386"/>
            </a:avLst>
          </a:prstGeom>
          <a:solidFill>
            <a:srgbClr val="D4F7EC"/>
          </a:solidFill>
          <a:ln/>
        </p:spPr>
      </p:sp>
      <p:sp>
        <p:nvSpPr>
          <p:cNvPr id="5" name="Text 2"/>
          <p:cNvSpPr/>
          <p:nvPr/>
        </p:nvSpPr>
        <p:spPr>
          <a:xfrm>
            <a:off x="581174" y="516880"/>
            <a:ext cx="1393180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TEMUAN UTAMA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673051" y="516880"/>
            <a:ext cx="1439912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1C977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MODEL ANTREAN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496119" y="797496"/>
            <a:ext cx="4722763" cy="70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Seluruh Kondisi Dimodelkan sebagai M/G/2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96119" y="1718816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Berdasarkan hasil uji distribusi, keempat kondisi operasional menghasilkan model antrean yang sama.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96119" y="2331913"/>
            <a:ext cx="1479724" cy="1724099"/>
          </a:xfrm>
          <a:prstGeom prst="roundRect">
            <a:avLst>
              <a:gd name="adj" fmla="val 1437"/>
            </a:avLst>
          </a:prstGeom>
          <a:solidFill>
            <a:srgbClr val="F2EEEE"/>
          </a:solidFill>
          <a:ln/>
        </p:spPr>
      </p:sp>
      <p:sp>
        <p:nvSpPr>
          <p:cNvPr id="10" name="Text 7"/>
          <p:cNvSpPr/>
          <p:nvPr/>
        </p:nvSpPr>
        <p:spPr>
          <a:xfrm>
            <a:off x="637877" y="2473672"/>
            <a:ext cx="11962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M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37877" y="2780184"/>
            <a:ext cx="1196206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Kedatangan mengikuti distribusi </a:t>
            </a:r>
            <a:r>
              <a:rPr lang="en-US" sz="11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Markovian</a:t>
            </a: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(Eksponensial)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117601" y="2331913"/>
            <a:ext cx="1479724" cy="1724099"/>
          </a:xfrm>
          <a:prstGeom prst="roundRect">
            <a:avLst>
              <a:gd name="adj" fmla="val 1437"/>
            </a:avLst>
          </a:prstGeom>
          <a:solidFill>
            <a:srgbClr val="F2EEEE"/>
          </a:solidFill>
          <a:ln/>
        </p:spPr>
      </p:sp>
      <p:sp>
        <p:nvSpPr>
          <p:cNvPr id="13" name="Text 10"/>
          <p:cNvSpPr/>
          <p:nvPr/>
        </p:nvSpPr>
        <p:spPr>
          <a:xfrm>
            <a:off x="2259360" y="2473672"/>
            <a:ext cx="11962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G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2259360" y="2780184"/>
            <a:ext cx="119620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Pelayanan mengikuti distribusi </a:t>
            </a:r>
            <a:r>
              <a:rPr lang="en-US" sz="11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General</a:t>
            </a: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(Umum)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739083" y="2331913"/>
            <a:ext cx="1479724" cy="1724099"/>
          </a:xfrm>
          <a:prstGeom prst="roundRect">
            <a:avLst>
              <a:gd name="adj" fmla="val 1437"/>
            </a:avLst>
          </a:prstGeom>
          <a:solidFill>
            <a:srgbClr val="F2EEEE"/>
          </a:solidFill>
          <a:ln/>
        </p:spPr>
      </p:sp>
      <p:sp>
        <p:nvSpPr>
          <p:cNvPr id="16" name="Text 13"/>
          <p:cNvSpPr/>
          <p:nvPr/>
        </p:nvSpPr>
        <p:spPr>
          <a:xfrm>
            <a:off x="3880842" y="2473672"/>
            <a:ext cx="11962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2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3880842" y="2780184"/>
            <a:ext cx="119620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Jumlah </a:t>
            </a:r>
            <a:r>
              <a:rPr lang="en-US" sz="11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server</a:t>
            </a: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paralel (2 nozzle aktif)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96119" y="4215482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Model M/G/2 konsisten untuk: Nozzle 1 Pendek, Nozzle 2 Pendek, Nozzle 1 Panjang, dan Nozzle 2 Panjang.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74613"/>
            <a:ext cx="639812" cy="260821"/>
          </a:xfrm>
          <a:prstGeom prst="roundRect">
            <a:avLst>
              <a:gd name="adj" fmla="val 6421"/>
            </a:avLst>
          </a:prstGeom>
          <a:solidFill>
            <a:srgbClr val="D4F7EC"/>
          </a:solidFill>
          <a:ln/>
        </p:spPr>
      </p:sp>
      <p:sp>
        <p:nvSpPr>
          <p:cNvPr id="3" name="Text 1"/>
          <p:cNvSpPr/>
          <p:nvPr/>
        </p:nvSpPr>
        <p:spPr>
          <a:xfrm>
            <a:off x="579834" y="516434"/>
            <a:ext cx="929580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KINERJA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205657" y="516434"/>
            <a:ext cx="1435150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850" dirty="0">
                <a:solidFill>
                  <a:srgbClr val="1C977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UTILISASI SISTEM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96119" y="790352"/>
            <a:ext cx="6087442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Utilisasi Server (ρ) — Semua Kondisi Stabil</a:t>
            </a:r>
            <a:endParaRPr lang="en-US" sz="21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499741"/>
            <a:ext cx="4330303" cy="297187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171554" y="1468859"/>
            <a:ext cx="393829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Semua nilai utilisasi berada di bawah 1, yang berarti: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171554" y="2022425"/>
            <a:ext cx="1654671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Sistem Stabil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171554" y="2377827"/>
            <a:ext cx="1654671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Laju pelayanan mampu mengimbangi laju kedatangan pelanggan.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152504" y="1844799"/>
            <a:ext cx="1692771" cy="38100"/>
          </a:xfrm>
          <a:prstGeom prst="rect">
            <a:avLst/>
          </a:prstGeom>
          <a:solidFill>
            <a:srgbClr val="1C9770"/>
          </a:solidFill>
          <a:ln/>
        </p:spPr>
      </p:sp>
      <p:sp>
        <p:nvSpPr>
          <p:cNvPr id="11" name="Text 8"/>
          <p:cNvSpPr/>
          <p:nvPr/>
        </p:nvSpPr>
        <p:spPr>
          <a:xfrm>
            <a:off x="6997898" y="2022425"/>
            <a:ext cx="1654746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Tanpa Overload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997898" y="2377827"/>
            <a:ext cx="1654746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Tidak terjadi penumpukan antrean yang ekstrem pada setiap kondisi.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978848" y="1844799"/>
            <a:ext cx="1692846" cy="38100"/>
          </a:xfrm>
          <a:prstGeom prst="rect">
            <a:avLst/>
          </a:prstGeom>
          <a:solidFill>
            <a:srgbClr val="1C9770"/>
          </a:solidFill>
          <a:ln/>
        </p:spPr>
      </p:sp>
      <p:sp>
        <p:nvSpPr>
          <p:cNvPr id="14" name="Text 11"/>
          <p:cNvSpPr/>
          <p:nvPr/>
        </p:nvSpPr>
        <p:spPr>
          <a:xfrm>
            <a:off x="5171554" y="3716015"/>
            <a:ext cx="17443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Risiko Rendah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5171554" y="4071417"/>
            <a:ext cx="3481090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Rata-rata utilisasi </a:t>
            </a:r>
            <a:r>
              <a:rPr lang="en-US" sz="1050" dirty="0">
                <a:solidFill>
                  <a:srgbClr val="1C977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±35%</a:t>
            </a:r>
            <a:r>
              <a:rPr lang="en-US" sz="10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menunjukkan kapasitas cadangan tersedia.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152504" y="3538389"/>
            <a:ext cx="3519190" cy="38100"/>
          </a:xfrm>
          <a:prstGeom prst="rect">
            <a:avLst/>
          </a:prstGeom>
          <a:solidFill>
            <a:srgbClr val="1C9770"/>
          </a:solidFill>
          <a:ln/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D5BBF67-1418-48DA-C5EA-7C21D9F64170}"/>
              </a:ext>
            </a:extLst>
          </p:cNvPr>
          <p:cNvSpPr/>
          <p:nvPr/>
        </p:nvSpPr>
        <p:spPr>
          <a:xfrm>
            <a:off x="7703820" y="4831080"/>
            <a:ext cx="2042160" cy="3962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41796"/>
            <a:ext cx="739601" cy="202629"/>
          </a:xfrm>
          <a:prstGeom prst="roundRect">
            <a:avLst>
              <a:gd name="adj" fmla="val 6821"/>
            </a:avLst>
          </a:prstGeom>
          <a:solidFill>
            <a:srgbClr val="D4F7EC"/>
          </a:solidFill>
          <a:ln/>
        </p:spPr>
      </p:sp>
      <p:sp>
        <p:nvSpPr>
          <p:cNvPr id="3" name="Text 1"/>
          <p:cNvSpPr/>
          <p:nvPr/>
        </p:nvSpPr>
        <p:spPr>
          <a:xfrm>
            <a:off x="565175" y="476324"/>
            <a:ext cx="1058689" cy="133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KESIMPULAN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1293242" y="441796"/>
            <a:ext cx="804342" cy="202629"/>
          </a:xfrm>
          <a:prstGeom prst="roundRect">
            <a:avLst>
              <a:gd name="adj" fmla="val 6821"/>
            </a:avLst>
          </a:prstGeom>
          <a:noFill/>
          <a:ln/>
          <a:effectLst>
            <a:outerShdw blurRad="101600" dist="50800" dir="16200000" algn="bl" rotWithShape="0">
              <a:srgbClr val="1C9770">
                <a:alpha val="10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362298" y="476324"/>
            <a:ext cx="1123429" cy="133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700" dirty="0">
                <a:solidFill>
                  <a:srgbClr val="1C977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6 POIN UTAMA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96119" y="681856"/>
            <a:ext cx="4284315" cy="287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Ringkasan Temuan &amp; Rekomendasi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96119" y="1110183"/>
            <a:ext cx="259110" cy="259110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8" name="Text 6"/>
          <p:cNvSpPr/>
          <p:nvPr/>
        </p:nvSpPr>
        <p:spPr>
          <a:xfrm>
            <a:off x="539316" y="1131763"/>
            <a:ext cx="172715" cy="2159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1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48767" y="1149772"/>
            <a:ext cx="1524521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Distribusi Kedatangan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48767" y="1385813"/>
            <a:ext cx="7799115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Pola kedatangan pelanggan mengikuti distribusi eksponensial (Markovian).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96119" y="1739950"/>
            <a:ext cx="259110" cy="259110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2" name="Text 10"/>
          <p:cNvSpPr/>
          <p:nvPr/>
        </p:nvSpPr>
        <p:spPr>
          <a:xfrm>
            <a:off x="539316" y="1761530"/>
            <a:ext cx="172715" cy="2159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2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48767" y="1779538"/>
            <a:ext cx="14397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Distribusi Pelayanan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48767" y="2015579"/>
            <a:ext cx="7799115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Waktu pelayanan tidak mengikuti eksponensial, sehingga dikategorikan distribusi umum (General).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96119" y="2369716"/>
            <a:ext cx="259110" cy="259110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6" name="Text 14"/>
          <p:cNvSpPr/>
          <p:nvPr/>
        </p:nvSpPr>
        <p:spPr>
          <a:xfrm>
            <a:off x="539316" y="2391296"/>
            <a:ext cx="172715" cy="2159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3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48767" y="2409304"/>
            <a:ext cx="149118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Model Antrean M/G/2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48767" y="2645346"/>
            <a:ext cx="7799115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Seluruh sistem antrean dimodelkan sebagai M/G/2 dengan disiplin pelayanan FIFO.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96119" y="2999482"/>
            <a:ext cx="259110" cy="259110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20" name="Text 18"/>
          <p:cNvSpPr/>
          <p:nvPr/>
        </p:nvSpPr>
        <p:spPr>
          <a:xfrm>
            <a:off x="539316" y="3021062"/>
            <a:ext cx="172715" cy="2159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4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48767" y="3039070"/>
            <a:ext cx="14397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Sistem Stabil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48767" y="3275112"/>
            <a:ext cx="7799115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Semua kondisi memiliki nilai utilisasi &lt; 1, sehingga sistem berada dalam kondisi stabil tanpa overload.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96119" y="3629248"/>
            <a:ext cx="259110" cy="259110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24" name="Text 22"/>
          <p:cNvSpPr/>
          <p:nvPr/>
        </p:nvSpPr>
        <p:spPr>
          <a:xfrm>
            <a:off x="539316" y="3650828"/>
            <a:ext cx="172715" cy="2159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5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848767" y="3668837"/>
            <a:ext cx="14397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Pengaruh Jam Sibuk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48767" y="3904878"/>
            <a:ext cx="7799115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Jam sibuk menghasilkan waktu tunggu yang lebih besar dibandingkan jam non-sibuk.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96119" y="4259014"/>
            <a:ext cx="259110" cy="259110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28" name="Text 26"/>
          <p:cNvSpPr/>
          <p:nvPr/>
        </p:nvSpPr>
        <p:spPr>
          <a:xfrm>
            <a:off x="539316" y="4280595"/>
            <a:ext cx="172715" cy="2159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6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848767" y="4298603"/>
            <a:ext cx="1823442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Rekomendasi Optimalisasi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48767" y="4534644"/>
            <a:ext cx="7799115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Optimalisasi pelayanan pada jam sibuk dapat dilakukan untuk mengurangi waktu tunggu pelanggan.</a:t>
            </a:r>
            <a:endParaRPr lang="en-US" sz="900" dirty="0"/>
          </a:p>
        </p:txBody>
      </p:sp>
      <p:pic>
        <p:nvPicPr>
          <p:cNvPr id="31" name="Image 0" descr="preencoded.png">
            <a:extLst>
              <a:ext uri="{FF2B5EF4-FFF2-40B4-BE49-F238E27FC236}">
                <a16:creationId xmlns:a16="http://schemas.microsoft.com/office/drawing/2014/main" id="{BFC44DC8-D17B-2E91-1623-0167E3F713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1793" y="709252"/>
            <a:ext cx="3287241" cy="4383063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233049CA-B97B-CDFA-241F-CFEEE1FE0119}"/>
              </a:ext>
            </a:extLst>
          </p:cNvPr>
          <p:cNvSpPr/>
          <p:nvPr/>
        </p:nvSpPr>
        <p:spPr>
          <a:xfrm>
            <a:off x="7703820" y="4831080"/>
            <a:ext cx="2042160" cy="3962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21BF3-C605-D9FF-E5C9-3FFB8C4F5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60DED616-7697-5862-2367-6B1D43439D20}"/>
              </a:ext>
            </a:extLst>
          </p:cNvPr>
          <p:cNvSpPr/>
          <p:nvPr/>
        </p:nvSpPr>
        <p:spPr>
          <a:xfrm>
            <a:off x="4901999" y="1444806"/>
            <a:ext cx="3214821" cy="1738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5400" dirty="0">
                <a:solidFill>
                  <a:srgbClr val="030303"/>
                </a:solidFill>
                <a:latin typeface="Arial Black" panose="020B0A04020102020204" pitchFamily="34" charset="0"/>
                <a:ea typeface="DM Sans SemiBold" pitchFamily="34" charset="-122"/>
                <a:cs typeface="DM Sans SemiBold" pitchFamily="34" charset="-120"/>
              </a:rPr>
              <a:t>TERIMA</a:t>
            </a:r>
          </a:p>
          <a:p>
            <a:pPr marL="0" indent="0" algn="ctr">
              <a:lnSpc>
                <a:spcPct val="104000"/>
              </a:lnSpc>
              <a:buNone/>
            </a:pPr>
            <a:r>
              <a:rPr lang="en-US" sz="5400" dirty="0">
                <a:solidFill>
                  <a:srgbClr val="030303"/>
                </a:solidFill>
                <a:latin typeface="Arial Black" panose="020B0A04020102020204" pitchFamily="34" charset="0"/>
                <a:ea typeface="DM Sans SemiBold" pitchFamily="34" charset="-122"/>
                <a:cs typeface="DM Sans SemiBold" pitchFamily="34" charset="-120"/>
              </a:rPr>
              <a:t>KASIH</a:t>
            </a:r>
            <a:endParaRPr lang="en-US" sz="5400" dirty="0">
              <a:latin typeface="Arial Black" panose="020B0A0402010202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16D97A7-1752-14C8-FEDC-E054E3A9967E}"/>
              </a:ext>
            </a:extLst>
          </p:cNvPr>
          <p:cNvSpPr/>
          <p:nvPr/>
        </p:nvSpPr>
        <p:spPr>
          <a:xfrm>
            <a:off x="7703820" y="4831080"/>
            <a:ext cx="2042160" cy="3962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26" name="Image 0" descr="preencoded.png">
            <a:extLst>
              <a:ext uri="{FF2B5EF4-FFF2-40B4-BE49-F238E27FC236}">
                <a16:creationId xmlns:a16="http://schemas.microsoft.com/office/drawing/2014/main" id="{FD171A6C-81B7-1BDC-A3F3-602B9CFBB8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082" y="83001"/>
            <a:ext cx="3287241" cy="4383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04386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714</Words>
  <Application>Microsoft Office PowerPoint</Application>
  <PresentationFormat>On-screen Show (16:9)</PresentationFormat>
  <Paragraphs>137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DM Sans SemiBold</vt:lpstr>
      <vt:lpstr>Arial</vt:lpstr>
      <vt:lpstr>Inter Medium</vt:lpstr>
      <vt:lpstr>Arial Black</vt:lpstr>
      <vt:lpstr>Inter Bold</vt:lpstr>
      <vt:lpstr>DM Sans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ASUS VIVOBOOK</cp:lastModifiedBy>
  <cp:revision>2</cp:revision>
  <dcterms:created xsi:type="dcterms:W3CDTF">2026-06-25T14:03:29Z</dcterms:created>
  <dcterms:modified xsi:type="dcterms:W3CDTF">2026-06-25T14:30:01Z</dcterms:modified>
</cp:coreProperties>
</file>